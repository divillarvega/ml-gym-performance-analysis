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5" r:id="rId10"/>
    <p:sldId id="268" r:id="rId11"/>
    <p:sldId id="267" r:id="rId12"/>
    <p:sldId id="263" r:id="rId13"/>
    <p:sldId id="264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0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C1B8E4-98EF-4C71-B926-E2A135CB59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B3B5602-F408-4B83-8D04-D037D884DC87}">
      <dgm:prSet/>
      <dgm:spPr/>
      <dgm:t>
        <a:bodyPr/>
        <a:lstStyle/>
        <a:p>
          <a:r>
            <a:rPr lang="es-MX" b="1" dirty="0"/>
            <a:t>Proceso:</a:t>
          </a:r>
          <a:r>
            <a:rPr lang="es-MX" dirty="0"/>
            <a:t> Transición de ‘</a:t>
          </a:r>
          <a:r>
            <a:rPr lang="es-MX" dirty="0" err="1"/>
            <a:t>RandomizedSearchCV</a:t>
          </a:r>
          <a:r>
            <a:rPr lang="es-MX" dirty="0"/>
            <a:t>’ (exploración) a ‘</a:t>
          </a:r>
          <a:r>
            <a:rPr lang="es-MX" dirty="0" err="1"/>
            <a:t>GridSearchCV</a:t>
          </a:r>
          <a:r>
            <a:rPr lang="es-MX" dirty="0"/>
            <a:t>’ (precisión).</a:t>
          </a:r>
          <a:endParaRPr lang="en-US" dirty="0"/>
        </a:p>
      </dgm:t>
    </dgm:pt>
    <dgm:pt modelId="{DC5605A3-3A99-4099-AC7A-CD2CBACAF5D6}" type="parTrans" cxnId="{119ABA93-C531-4251-8D62-7FFB586EC234}">
      <dgm:prSet/>
      <dgm:spPr/>
      <dgm:t>
        <a:bodyPr/>
        <a:lstStyle/>
        <a:p>
          <a:endParaRPr lang="en-US"/>
        </a:p>
      </dgm:t>
    </dgm:pt>
    <dgm:pt modelId="{46BAC8D8-4E3E-490E-879C-B4B774B21E35}" type="sibTrans" cxnId="{119ABA93-C531-4251-8D62-7FFB586EC234}">
      <dgm:prSet/>
      <dgm:spPr/>
      <dgm:t>
        <a:bodyPr/>
        <a:lstStyle/>
        <a:p>
          <a:endParaRPr lang="en-US"/>
        </a:p>
      </dgm:t>
    </dgm:pt>
    <dgm:pt modelId="{3D6844ED-445D-4D9B-A3B7-3742D7B976FC}">
      <dgm:prSet/>
      <dgm:spPr/>
      <dgm:t>
        <a:bodyPr/>
        <a:lstStyle/>
        <a:p>
          <a:r>
            <a:rPr lang="es-MX" b="1" dirty="0"/>
            <a:t>Impacto:</a:t>
          </a:r>
          <a:r>
            <a:rPr lang="es-MX" dirty="0"/>
            <a:t> Mejora del 5-10% en el error cuadrático medio tras ajustar ‘n_estimators’ y ‘</a:t>
          </a:r>
          <a:r>
            <a:rPr lang="es-MX" dirty="0" err="1"/>
            <a:t>max_depth</a:t>
          </a:r>
          <a:r>
            <a:rPr lang="es-MX" dirty="0"/>
            <a:t>’.</a:t>
          </a:r>
          <a:endParaRPr lang="en-US" dirty="0"/>
        </a:p>
      </dgm:t>
    </dgm:pt>
    <dgm:pt modelId="{63AC6833-066D-4B9F-B72B-D2ED402AB669}" type="parTrans" cxnId="{1F18C8E6-57A8-40F6-A5BF-6502CB2C0362}">
      <dgm:prSet/>
      <dgm:spPr/>
      <dgm:t>
        <a:bodyPr/>
        <a:lstStyle/>
        <a:p>
          <a:endParaRPr lang="en-US"/>
        </a:p>
      </dgm:t>
    </dgm:pt>
    <dgm:pt modelId="{EA3A09D9-F2B9-49A0-874D-B972A2614511}" type="sibTrans" cxnId="{1F18C8E6-57A8-40F6-A5BF-6502CB2C0362}">
      <dgm:prSet/>
      <dgm:spPr/>
      <dgm:t>
        <a:bodyPr/>
        <a:lstStyle/>
        <a:p>
          <a:endParaRPr lang="en-US"/>
        </a:p>
      </dgm:t>
    </dgm:pt>
    <dgm:pt modelId="{616BA5CD-9B03-468C-96EF-FBC78F69D1F4}">
      <dgm:prSet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b="0" i="0" dirty="0"/>
            <a:t>Tras el </a:t>
          </a:r>
          <a:r>
            <a:rPr lang="es-ES" b="0" i="1" dirty="0"/>
            <a:t>GridSearch</a:t>
          </a:r>
          <a:r>
            <a:rPr lang="es-ES" b="0" i="0" dirty="0"/>
            <a:t> para encontrar los mejores hiperparámetros, procedemos a la </a:t>
          </a:r>
          <a:r>
            <a:rPr lang="es-ES" b="1" i="0" dirty="0"/>
            <a:t>Serialización del Modelo lo que </a:t>
          </a:r>
          <a:r>
            <a:rPr lang="es-ES" b="0" i="0" dirty="0"/>
            <a:t>Permite cargar el modelo en una aplicación real (Web/App) para predecir calorías de nuevos socios al instante </a:t>
          </a:r>
          <a:r>
            <a:rPr lang="es-ES" b="1" i="0" dirty="0"/>
            <a:t>sin volver a entrenar</a:t>
          </a:r>
          <a:r>
            <a:rPr lang="es-ES" b="0" i="0" dirty="0"/>
            <a:t>.</a:t>
          </a:r>
          <a:endParaRPr lang="en-US" dirty="0">
            <a:solidFill>
              <a:srgbClr val="C00000"/>
            </a:solidFill>
          </a:endParaRPr>
        </a:p>
      </dgm:t>
    </dgm:pt>
    <dgm:pt modelId="{83B2137D-074F-42B6-B454-76421DE5F833}" type="parTrans" cxnId="{F43642E6-9326-4519-BE50-93CCDDF45A6A}">
      <dgm:prSet/>
      <dgm:spPr/>
      <dgm:t>
        <a:bodyPr/>
        <a:lstStyle/>
        <a:p>
          <a:endParaRPr lang="en-US"/>
        </a:p>
      </dgm:t>
    </dgm:pt>
    <dgm:pt modelId="{0322A329-F467-4FB0-B4E5-A57A361B8D87}" type="sibTrans" cxnId="{F43642E6-9326-4519-BE50-93CCDDF45A6A}">
      <dgm:prSet/>
      <dgm:spPr/>
      <dgm:t>
        <a:bodyPr/>
        <a:lstStyle/>
        <a:p>
          <a:endParaRPr lang="en-US"/>
        </a:p>
      </dgm:t>
    </dgm:pt>
    <dgm:pt modelId="{4D6755D9-0E56-4E3C-B008-332E6B77294A}" type="pres">
      <dgm:prSet presAssocID="{65C1B8E4-98EF-4C71-B926-E2A135CB5992}" presName="root" presStyleCnt="0">
        <dgm:presLayoutVars>
          <dgm:dir/>
          <dgm:resizeHandles val="exact"/>
        </dgm:presLayoutVars>
      </dgm:prSet>
      <dgm:spPr/>
    </dgm:pt>
    <dgm:pt modelId="{9898DCDE-5385-4544-A9A4-622B1DFF14C0}" type="pres">
      <dgm:prSet presAssocID="{AB3B5602-F408-4B83-8D04-D037D884DC87}" presName="compNode" presStyleCnt="0"/>
      <dgm:spPr/>
    </dgm:pt>
    <dgm:pt modelId="{09EE6244-205E-40C3-B260-E52538B15AF9}" type="pres">
      <dgm:prSet presAssocID="{AB3B5602-F408-4B83-8D04-D037D884DC87}" presName="bgRect" presStyleLbl="bgShp" presStyleIdx="0" presStyleCnt="3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59FFDA48-D939-496E-992D-3C8061CDDD25}" type="pres">
      <dgm:prSet presAssocID="{AB3B5602-F408-4B83-8D04-D037D884DC8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933486D1-EE4D-437C-AECE-9F126CC11698}" type="pres">
      <dgm:prSet presAssocID="{AB3B5602-F408-4B83-8D04-D037D884DC87}" presName="spaceRect" presStyleCnt="0"/>
      <dgm:spPr/>
    </dgm:pt>
    <dgm:pt modelId="{B339EE73-9149-425C-9CB1-3B9ED2E6C615}" type="pres">
      <dgm:prSet presAssocID="{AB3B5602-F408-4B83-8D04-D037D884DC87}" presName="parTx" presStyleLbl="revTx" presStyleIdx="0" presStyleCnt="3">
        <dgm:presLayoutVars>
          <dgm:chMax val="0"/>
          <dgm:chPref val="0"/>
        </dgm:presLayoutVars>
      </dgm:prSet>
      <dgm:spPr/>
    </dgm:pt>
    <dgm:pt modelId="{85A832A8-13BF-4326-AB69-E529386D621E}" type="pres">
      <dgm:prSet presAssocID="{46BAC8D8-4E3E-490E-879C-B4B774B21E35}" presName="sibTrans" presStyleCnt="0"/>
      <dgm:spPr/>
    </dgm:pt>
    <dgm:pt modelId="{03BAC8EB-F5B1-463C-8CD7-2659AE6FFBD3}" type="pres">
      <dgm:prSet presAssocID="{3D6844ED-445D-4D9B-A3B7-3742D7B976FC}" presName="compNode" presStyleCnt="0"/>
      <dgm:spPr/>
    </dgm:pt>
    <dgm:pt modelId="{C2190074-D4DC-4048-AF59-2FFF5CED5196}" type="pres">
      <dgm:prSet presAssocID="{3D6844ED-445D-4D9B-A3B7-3742D7B976FC}" presName="bgRect" presStyleLbl="bgShp" presStyleIdx="1" presStyleCnt="3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0F558D67-7AF2-4FD6-9F42-615E4622A63E}" type="pres">
      <dgm:prSet presAssocID="{3D6844ED-445D-4D9B-A3B7-3742D7B976F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ar"/>
        </a:ext>
      </dgm:extLst>
    </dgm:pt>
    <dgm:pt modelId="{BCA6AB5F-5837-4C7D-B9D5-733DA1961031}" type="pres">
      <dgm:prSet presAssocID="{3D6844ED-445D-4D9B-A3B7-3742D7B976FC}" presName="spaceRect" presStyleCnt="0"/>
      <dgm:spPr/>
    </dgm:pt>
    <dgm:pt modelId="{57EB6CE8-F5E7-490A-B493-17D619D4482D}" type="pres">
      <dgm:prSet presAssocID="{3D6844ED-445D-4D9B-A3B7-3742D7B976FC}" presName="parTx" presStyleLbl="revTx" presStyleIdx="1" presStyleCnt="3">
        <dgm:presLayoutVars>
          <dgm:chMax val="0"/>
          <dgm:chPref val="0"/>
        </dgm:presLayoutVars>
      </dgm:prSet>
      <dgm:spPr/>
    </dgm:pt>
    <dgm:pt modelId="{1EC4AA79-C265-4E35-9214-40F0A8FBCBFC}" type="pres">
      <dgm:prSet presAssocID="{EA3A09D9-F2B9-49A0-874D-B972A2614511}" presName="sibTrans" presStyleCnt="0"/>
      <dgm:spPr/>
    </dgm:pt>
    <dgm:pt modelId="{D6966571-D91F-4DFB-88F6-DED562EA9F1C}" type="pres">
      <dgm:prSet presAssocID="{616BA5CD-9B03-468C-96EF-FBC78F69D1F4}" presName="compNode" presStyleCnt="0"/>
      <dgm:spPr/>
    </dgm:pt>
    <dgm:pt modelId="{170D4250-2BB0-4FD8-8DDF-7C91950CF21C}" type="pres">
      <dgm:prSet presAssocID="{616BA5CD-9B03-468C-96EF-FBC78F69D1F4}" presName="bgRect" presStyleLbl="bgShp" presStyleIdx="2" presStyleCnt="3"/>
      <dgm:spPr/>
    </dgm:pt>
    <dgm:pt modelId="{88653C48-04A0-4E31-A154-A50ADABBC2A6}" type="pres">
      <dgm:prSet presAssocID="{616BA5CD-9B03-468C-96EF-FBC78F69D1F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illas"/>
        </a:ext>
      </dgm:extLst>
    </dgm:pt>
    <dgm:pt modelId="{3D214035-D1AE-4916-8DF0-081353BC0ED3}" type="pres">
      <dgm:prSet presAssocID="{616BA5CD-9B03-468C-96EF-FBC78F69D1F4}" presName="spaceRect" presStyleCnt="0"/>
      <dgm:spPr/>
    </dgm:pt>
    <dgm:pt modelId="{B5BB9913-C72C-467B-A142-2C7456CFB5EC}" type="pres">
      <dgm:prSet presAssocID="{616BA5CD-9B03-468C-96EF-FBC78F69D1F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0A20B35-DBF7-4AFD-95D7-3F3DBC2494E9}" type="presOf" srcId="{65C1B8E4-98EF-4C71-B926-E2A135CB5992}" destId="{4D6755D9-0E56-4E3C-B008-332E6B77294A}" srcOrd="0" destOrd="0" presId="urn:microsoft.com/office/officeart/2018/2/layout/IconVerticalSolidList"/>
    <dgm:cxn modelId="{119ABA93-C531-4251-8D62-7FFB586EC234}" srcId="{65C1B8E4-98EF-4C71-B926-E2A135CB5992}" destId="{AB3B5602-F408-4B83-8D04-D037D884DC87}" srcOrd="0" destOrd="0" parTransId="{DC5605A3-3A99-4099-AC7A-CD2CBACAF5D6}" sibTransId="{46BAC8D8-4E3E-490E-879C-B4B774B21E35}"/>
    <dgm:cxn modelId="{4C78F29C-1070-45C1-86B3-2D5079081E8E}" type="presOf" srcId="{616BA5CD-9B03-468C-96EF-FBC78F69D1F4}" destId="{B5BB9913-C72C-467B-A142-2C7456CFB5EC}" srcOrd="0" destOrd="0" presId="urn:microsoft.com/office/officeart/2018/2/layout/IconVerticalSolidList"/>
    <dgm:cxn modelId="{EDA729AB-62E1-4A6A-9562-0C1F17AE8BEF}" type="presOf" srcId="{3D6844ED-445D-4D9B-A3B7-3742D7B976FC}" destId="{57EB6CE8-F5E7-490A-B493-17D619D4482D}" srcOrd="0" destOrd="0" presId="urn:microsoft.com/office/officeart/2018/2/layout/IconVerticalSolidList"/>
    <dgm:cxn modelId="{CA8EA7C5-B7B8-4A18-BBBB-0B76288138B1}" type="presOf" srcId="{AB3B5602-F408-4B83-8D04-D037D884DC87}" destId="{B339EE73-9149-425C-9CB1-3B9ED2E6C615}" srcOrd="0" destOrd="0" presId="urn:microsoft.com/office/officeart/2018/2/layout/IconVerticalSolidList"/>
    <dgm:cxn modelId="{F43642E6-9326-4519-BE50-93CCDDF45A6A}" srcId="{65C1B8E4-98EF-4C71-B926-E2A135CB5992}" destId="{616BA5CD-9B03-468C-96EF-FBC78F69D1F4}" srcOrd="2" destOrd="0" parTransId="{83B2137D-074F-42B6-B454-76421DE5F833}" sibTransId="{0322A329-F467-4FB0-B4E5-A57A361B8D87}"/>
    <dgm:cxn modelId="{1F18C8E6-57A8-40F6-A5BF-6502CB2C0362}" srcId="{65C1B8E4-98EF-4C71-B926-E2A135CB5992}" destId="{3D6844ED-445D-4D9B-A3B7-3742D7B976FC}" srcOrd="1" destOrd="0" parTransId="{63AC6833-066D-4B9F-B72B-D2ED402AB669}" sibTransId="{EA3A09D9-F2B9-49A0-874D-B972A2614511}"/>
    <dgm:cxn modelId="{5598249A-684E-4FEF-8CCB-EEB3D706C68D}" type="presParOf" srcId="{4D6755D9-0E56-4E3C-B008-332E6B77294A}" destId="{9898DCDE-5385-4544-A9A4-622B1DFF14C0}" srcOrd="0" destOrd="0" presId="urn:microsoft.com/office/officeart/2018/2/layout/IconVerticalSolidList"/>
    <dgm:cxn modelId="{AAA8F5E4-166E-481D-A778-47BC3CA2862E}" type="presParOf" srcId="{9898DCDE-5385-4544-A9A4-622B1DFF14C0}" destId="{09EE6244-205E-40C3-B260-E52538B15AF9}" srcOrd="0" destOrd="0" presId="urn:microsoft.com/office/officeart/2018/2/layout/IconVerticalSolidList"/>
    <dgm:cxn modelId="{2CFA8FF3-5515-4B75-8134-05A527921B0F}" type="presParOf" srcId="{9898DCDE-5385-4544-A9A4-622B1DFF14C0}" destId="{59FFDA48-D939-496E-992D-3C8061CDDD25}" srcOrd="1" destOrd="0" presId="urn:microsoft.com/office/officeart/2018/2/layout/IconVerticalSolidList"/>
    <dgm:cxn modelId="{8F65CBD3-BD15-4F93-9DF4-F826BE319C96}" type="presParOf" srcId="{9898DCDE-5385-4544-A9A4-622B1DFF14C0}" destId="{933486D1-EE4D-437C-AECE-9F126CC11698}" srcOrd="2" destOrd="0" presId="urn:microsoft.com/office/officeart/2018/2/layout/IconVerticalSolidList"/>
    <dgm:cxn modelId="{804101AD-3949-4E60-8F1D-97A5FDD683A5}" type="presParOf" srcId="{9898DCDE-5385-4544-A9A4-622B1DFF14C0}" destId="{B339EE73-9149-425C-9CB1-3B9ED2E6C615}" srcOrd="3" destOrd="0" presId="urn:microsoft.com/office/officeart/2018/2/layout/IconVerticalSolidList"/>
    <dgm:cxn modelId="{22C8A72F-5560-44EF-846A-D22DF0E56710}" type="presParOf" srcId="{4D6755D9-0E56-4E3C-B008-332E6B77294A}" destId="{85A832A8-13BF-4326-AB69-E529386D621E}" srcOrd="1" destOrd="0" presId="urn:microsoft.com/office/officeart/2018/2/layout/IconVerticalSolidList"/>
    <dgm:cxn modelId="{5014DD3A-43C5-4C62-BA94-830CC6897A81}" type="presParOf" srcId="{4D6755D9-0E56-4E3C-B008-332E6B77294A}" destId="{03BAC8EB-F5B1-463C-8CD7-2659AE6FFBD3}" srcOrd="2" destOrd="0" presId="urn:microsoft.com/office/officeart/2018/2/layout/IconVerticalSolidList"/>
    <dgm:cxn modelId="{9EDE1C68-364D-437D-BC37-DEAEA1EBF937}" type="presParOf" srcId="{03BAC8EB-F5B1-463C-8CD7-2659AE6FFBD3}" destId="{C2190074-D4DC-4048-AF59-2FFF5CED5196}" srcOrd="0" destOrd="0" presId="urn:microsoft.com/office/officeart/2018/2/layout/IconVerticalSolidList"/>
    <dgm:cxn modelId="{947C1F08-C57B-4D76-AAFC-FFAE6D4C1D61}" type="presParOf" srcId="{03BAC8EB-F5B1-463C-8CD7-2659AE6FFBD3}" destId="{0F558D67-7AF2-4FD6-9F42-615E4622A63E}" srcOrd="1" destOrd="0" presId="urn:microsoft.com/office/officeart/2018/2/layout/IconVerticalSolidList"/>
    <dgm:cxn modelId="{2CB6F8AD-8A4C-4E73-885C-DF7C541E74F5}" type="presParOf" srcId="{03BAC8EB-F5B1-463C-8CD7-2659AE6FFBD3}" destId="{BCA6AB5F-5837-4C7D-B9D5-733DA1961031}" srcOrd="2" destOrd="0" presId="urn:microsoft.com/office/officeart/2018/2/layout/IconVerticalSolidList"/>
    <dgm:cxn modelId="{66B7B0AF-CD93-4E59-BF3F-575FFA6D09B2}" type="presParOf" srcId="{03BAC8EB-F5B1-463C-8CD7-2659AE6FFBD3}" destId="{57EB6CE8-F5E7-490A-B493-17D619D4482D}" srcOrd="3" destOrd="0" presId="urn:microsoft.com/office/officeart/2018/2/layout/IconVerticalSolidList"/>
    <dgm:cxn modelId="{567600AC-5D5B-451B-9AFE-3AEE7BA1D96E}" type="presParOf" srcId="{4D6755D9-0E56-4E3C-B008-332E6B77294A}" destId="{1EC4AA79-C265-4E35-9214-40F0A8FBCBFC}" srcOrd="3" destOrd="0" presId="urn:microsoft.com/office/officeart/2018/2/layout/IconVerticalSolidList"/>
    <dgm:cxn modelId="{1E652EC4-9E33-4CDD-8FB1-A69F37ADC26F}" type="presParOf" srcId="{4D6755D9-0E56-4E3C-B008-332E6B77294A}" destId="{D6966571-D91F-4DFB-88F6-DED562EA9F1C}" srcOrd="4" destOrd="0" presId="urn:microsoft.com/office/officeart/2018/2/layout/IconVerticalSolidList"/>
    <dgm:cxn modelId="{3FBCFCC9-5E3F-4136-A4E2-F33C2D47EF0A}" type="presParOf" srcId="{D6966571-D91F-4DFB-88F6-DED562EA9F1C}" destId="{170D4250-2BB0-4FD8-8DDF-7C91950CF21C}" srcOrd="0" destOrd="0" presId="urn:microsoft.com/office/officeart/2018/2/layout/IconVerticalSolidList"/>
    <dgm:cxn modelId="{FEAA945E-379B-418B-854C-150D5ED6982C}" type="presParOf" srcId="{D6966571-D91F-4DFB-88F6-DED562EA9F1C}" destId="{88653C48-04A0-4E31-A154-A50ADABBC2A6}" srcOrd="1" destOrd="0" presId="urn:microsoft.com/office/officeart/2018/2/layout/IconVerticalSolidList"/>
    <dgm:cxn modelId="{97A0B402-BE01-4618-898A-304DFB573279}" type="presParOf" srcId="{D6966571-D91F-4DFB-88F6-DED562EA9F1C}" destId="{3D214035-D1AE-4916-8DF0-081353BC0ED3}" srcOrd="2" destOrd="0" presId="urn:microsoft.com/office/officeart/2018/2/layout/IconVerticalSolidList"/>
    <dgm:cxn modelId="{B2AB532C-F730-47B1-A648-65E0C24D4432}" type="presParOf" srcId="{D6966571-D91F-4DFB-88F6-DED562EA9F1C}" destId="{B5BB9913-C72C-467B-A142-2C7456CFB5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0E27F5-E9C2-4E61-91DC-EF551C0E409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951832-6616-450C-BAA4-FAA7A8A2F37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b="1" dirty="0"/>
            <a:t>Dificultad:</a:t>
          </a:r>
          <a:r>
            <a:rPr lang="es-MX" sz="1600" dirty="0"/>
            <a:t> El manejo de </a:t>
          </a:r>
          <a:r>
            <a:rPr lang="es-MX" sz="1600" dirty="0" err="1"/>
            <a:t>outliers</a:t>
          </a:r>
          <a:r>
            <a:rPr lang="es-MX" sz="1600" dirty="0"/>
            <a:t> en la duración de la sesión fue crítico para no sesgar el modelo.</a:t>
          </a:r>
          <a:endParaRPr lang="en-US" sz="1600" dirty="0"/>
        </a:p>
      </dgm:t>
    </dgm:pt>
    <dgm:pt modelId="{987EE045-2EF2-4A50-A642-62E75D208D05}" type="parTrans" cxnId="{B7CDD984-F3C6-4E85-8E4F-10A4E6A748E5}">
      <dgm:prSet/>
      <dgm:spPr/>
      <dgm:t>
        <a:bodyPr/>
        <a:lstStyle/>
        <a:p>
          <a:endParaRPr lang="en-US"/>
        </a:p>
      </dgm:t>
    </dgm:pt>
    <dgm:pt modelId="{C2432A7C-7BF8-4668-89DB-E2CF3749C7FB}" type="sibTrans" cxnId="{B7CDD984-F3C6-4E85-8E4F-10A4E6A748E5}">
      <dgm:prSet/>
      <dgm:spPr/>
      <dgm:t>
        <a:bodyPr/>
        <a:lstStyle/>
        <a:p>
          <a:endParaRPr lang="en-US"/>
        </a:p>
      </dgm:t>
    </dgm:pt>
    <dgm:pt modelId="{220A8A59-6351-4622-A37A-C9D2675712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b="1" dirty="0"/>
            <a:t>Aprendizaje:</a:t>
          </a:r>
          <a:r>
            <a:rPr lang="es-MX" sz="1600" dirty="0"/>
            <a:t> El IMC (BMI) resultó ser más informativo que el peso por sí solo para predecir el porcentaje de grasa.</a:t>
          </a:r>
          <a:endParaRPr lang="en-US" sz="1600" dirty="0"/>
        </a:p>
      </dgm:t>
    </dgm:pt>
    <dgm:pt modelId="{8D767989-0039-40DB-BA8A-0BD0A5F2C416}" type="parTrans" cxnId="{BA2C86AF-D08B-418B-BFC2-6B85A0727335}">
      <dgm:prSet/>
      <dgm:spPr/>
      <dgm:t>
        <a:bodyPr/>
        <a:lstStyle/>
        <a:p>
          <a:endParaRPr lang="en-US"/>
        </a:p>
      </dgm:t>
    </dgm:pt>
    <dgm:pt modelId="{20584DC9-3583-450F-AFF0-3BE5F6161EFC}" type="sibTrans" cxnId="{BA2C86AF-D08B-418B-BFC2-6B85A0727335}">
      <dgm:prSet/>
      <dgm:spPr/>
      <dgm:t>
        <a:bodyPr/>
        <a:lstStyle/>
        <a:p>
          <a:endParaRPr lang="en-US"/>
        </a:p>
      </dgm:t>
    </dgm:pt>
    <dgm:pt modelId="{D909F242-4E8F-4297-92C2-F6499922BE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b="1" dirty="0"/>
            <a:t>Recomendación:</a:t>
          </a:r>
          <a:r>
            <a:rPr lang="es-MX" sz="1600" dirty="0"/>
            <a:t> Integrar datos de frecuencia cardíaca en tiempo real para alertar a los usuarios cuando están fuera de su zona de quema óptima.</a:t>
          </a:r>
          <a:endParaRPr lang="en-US" sz="1600" dirty="0"/>
        </a:p>
      </dgm:t>
    </dgm:pt>
    <dgm:pt modelId="{EF1AA2A2-1EA4-428E-8AB0-FCA50A75C614}" type="parTrans" cxnId="{EC5BCC3F-0B45-4AB7-BE16-62D22B17FA03}">
      <dgm:prSet/>
      <dgm:spPr/>
      <dgm:t>
        <a:bodyPr/>
        <a:lstStyle/>
        <a:p>
          <a:endParaRPr lang="en-US"/>
        </a:p>
      </dgm:t>
    </dgm:pt>
    <dgm:pt modelId="{22797513-8977-4D2C-AD2B-3F5FA184DD6D}" type="sibTrans" cxnId="{EC5BCC3F-0B45-4AB7-BE16-62D22B17FA03}">
      <dgm:prSet/>
      <dgm:spPr/>
      <dgm:t>
        <a:bodyPr/>
        <a:lstStyle/>
        <a:p>
          <a:endParaRPr lang="en-US"/>
        </a:p>
      </dgm:t>
    </dgm:pt>
    <dgm:pt modelId="{648095D3-6B64-4B06-8C2F-35200546829E}" type="pres">
      <dgm:prSet presAssocID="{310E27F5-E9C2-4E61-91DC-EF551C0E4093}" presName="root" presStyleCnt="0">
        <dgm:presLayoutVars>
          <dgm:dir/>
          <dgm:resizeHandles val="exact"/>
        </dgm:presLayoutVars>
      </dgm:prSet>
      <dgm:spPr/>
    </dgm:pt>
    <dgm:pt modelId="{6E8F8BBE-7AFD-4C34-BFC8-669DB543FC3C}" type="pres">
      <dgm:prSet presAssocID="{C6951832-6616-450C-BAA4-FAA7A8A2F37C}" presName="compNode" presStyleCnt="0"/>
      <dgm:spPr/>
    </dgm:pt>
    <dgm:pt modelId="{2CB1C7C4-1933-45AF-A142-7D66CD98BB8F}" type="pres">
      <dgm:prSet presAssocID="{C6951832-6616-450C-BAA4-FAA7A8A2F37C}" presName="iconRect" presStyleLbl="node1" presStyleIdx="0" presStyleCnt="3"/>
      <dgm:spPr>
        <a:blipFill>
          <a:blip xmlns:r="http://schemas.openxmlformats.org/officeDocument/2006/relationships">
            <a:alphaModFix amt="8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14A456BE-D18C-412A-8FE6-6ADB99AC1F62}" type="pres">
      <dgm:prSet presAssocID="{C6951832-6616-450C-BAA4-FAA7A8A2F37C}" presName="spaceRect" presStyleCnt="0"/>
      <dgm:spPr/>
    </dgm:pt>
    <dgm:pt modelId="{29F9733C-DB80-4B74-AF2F-326B36AF99BE}" type="pres">
      <dgm:prSet presAssocID="{C6951832-6616-450C-BAA4-FAA7A8A2F37C}" presName="textRect" presStyleLbl="revTx" presStyleIdx="0" presStyleCnt="3">
        <dgm:presLayoutVars>
          <dgm:chMax val="1"/>
          <dgm:chPref val="1"/>
        </dgm:presLayoutVars>
      </dgm:prSet>
      <dgm:spPr/>
    </dgm:pt>
    <dgm:pt modelId="{6FBA6A5B-96D0-4D7E-8063-F332FD2B53FE}" type="pres">
      <dgm:prSet presAssocID="{C2432A7C-7BF8-4668-89DB-E2CF3749C7FB}" presName="sibTrans" presStyleCnt="0"/>
      <dgm:spPr/>
    </dgm:pt>
    <dgm:pt modelId="{706FC86B-EBD2-4B87-A5F9-F0C9984E7E2F}" type="pres">
      <dgm:prSet presAssocID="{220A8A59-6351-4622-A37A-C9D267571279}" presName="compNode" presStyleCnt="0"/>
      <dgm:spPr/>
    </dgm:pt>
    <dgm:pt modelId="{811708FE-3F96-40DE-8844-8D037238AE31}" type="pres">
      <dgm:prSet presAssocID="{220A8A59-6351-4622-A37A-C9D26757127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extLst>
        <a:ext uri="{E40237B7-FDA0-4F09-8148-C483321AD2D9}">
          <dgm14:cNvPr xmlns:dgm14="http://schemas.microsoft.com/office/drawing/2010/diagram" id="0" name="" descr="Mancuerna"/>
        </a:ext>
      </dgm:extLst>
    </dgm:pt>
    <dgm:pt modelId="{E72916B9-F92E-453F-B414-DC89F023560D}" type="pres">
      <dgm:prSet presAssocID="{220A8A59-6351-4622-A37A-C9D267571279}" presName="spaceRect" presStyleCnt="0"/>
      <dgm:spPr/>
    </dgm:pt>
    <dgm:pt modelId="{B192A8DE-F2E8-474C-910D-DCDB8567937F}" type="pres">
      <dgm:prSet presAssocID="{220A8A59-6351-4622-A37A-C9D267571279}" presName="textRect" presStyleLbl="revTx" presStyleIdx="1" presStyleCnt="3">
        <dgm:presLayoutVars>
          <dgm:chMax val="1"/>
          <dgm:chPref val="1"/>
        </dgm:presLayoutVars>
      </dgm:prSet>
      <dgm:spPr/>
    </dgm:pt>
    <dgm:pt modelId="{10E26A12-6548-426D-AB78-15E5BBC1BED1}" type="pres">
      <dgm:prSet presAssocID="{20584DC9-3583-450F-AFF0-3BE5F6161EFC}" presName="sibTrans" presStyleCnt="0"/>
      <dgm:spPr/>
    </dgm:pt>
    <dgm:pt modelId="{68AE414A-BE2F-466B-9C28-00073293E56E}" type="pres">
      <dgm:prSet presAssocID="{D909F242-4E8F-4297-92C2-F6499922BE6E}" presName="compNode" presStyleCnt="0"/>
      <dgm:spPr/>
    </dgm:pt>
    <dgm:pt modelId="{47E24B5B-1206-4ED3-95AD-63E5C284812C}" type="pres">
      <dgm:prSet presAssocID="{D909F242-4E8F-4297-92C2-F6499922BE6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extLst>
        <a:ext uri="{E40237B7-FDA0-4F09-8148-C483321AD2D9}">
          <dgm14:cNvPr xmlns:dgm14="http://schemas.microsoft.com/office/drawing/2010/diagram" id="0" name="" descr="Latido"/>
        </a:ext>
      </dgm:extLst>
    </dgm:pt>
    <dgm:pt modelId="{CEE2E909-157B-42AF-91E0-388282B874A7}" type="pres">
      <dgm:prSet presAssocID="{D909F242-4E8F-4297-92C2-F6499922BE6E}" presName="spaceRect" presStyleCnt="0"/>
      <dgm:spPr/>
    </dgm:pt>
    <dgm:pt modelId="{FE62A636-C755-4603-A8CD-CDA0804DF4B0}" type="pres">
      <dgm:prSet presAssocID="{D909F242-4E8F-4297-92C2-F6499922BE6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4A95E05-3E86-420B-ACC9-4F686E9C27F5}" type="presOf" srcId="{D909F242-4E8F-4297-92C2-F6499922BE6E}" destId="{FE62A636-C755-4603-A8CD-CDA0804DF4B0}" srcOrd="0" destOrd="0" presId="urn:microsoft.com/office/officeart/2018/2/layout/IconLabelList"/>
    <dgm:cxn modelId="{EC5BCC3F-0B45-4AB7-BE16-62D22B17FA03}" srcId="{310E27F5-E9C2-4E61-91DC-EF551C0E4093}" destId="{D909F242-4E8F-4297-92C2-F6499922BE6E}" srcOrd="2" destOrd="0" parTransId="{EF1AA2A2-1EA4-428E-8AB0-FCA50A75C614}" sibTransId="{22797513-8977-4D2C-AD2B-3F5FA184DD6D}"/>
    <dgm:cxn modelId="{F736DB75-5414-4520-B09B-F435A99243BB}" type="presOf" srcId="{220A8A59-6351-4622-A37A-C9D267571279}" destId="{B192A8DE-F2E8-474C-910D-DCDB8567937F}" srcOrd="0" destOrd="0" presId="urn:microsoft.com/office/officeart/2018/2/layout/IconLabelList"/>
    <dgm:cxn modelId="{7F83CC83-35CE-4530-9E24-C5CD9F1F0785}" type="presOf" srcId="{310E27F5-E9C2-4E61-91DC-EF551C0E4093}" destId="{648095D3-6B64-4B06-8C2F-35200546829E}" srcOrd="0" destOrd="0" presId="urn:microsoft.com/office/officeart/2018/2/layout/IconLabelList"/>
    <dgm:cxn modelId="{B7CDD984-F3C6-4E85-8E4F-10A4E6A748E5}" srcId="{310E27F5-E9C2-4E61-91DC-EF551C0E4093}" destId="{C6951832-6616-450C-BAA4-FAA7A8A2F37C}" srcOrd="0" destOrd="0" parTransId="{987EE045-2EF2-4A50-A642-62E75D208D05}" sibTransId="{C2432A7C-7BF8-4668-89DB-E2CF3749C7FB}"/>
    <dgm:cxn modelId="{BA2C86AF-D08B-418B-BFC2-6B85A0727335}" srcId="{310E27F5-E9C2-4E61-91DC-EF551C0E4093}" destId="{220A8A59-6351-4622-A37A-C9D267571279}" srcOrd="1" destOrd="0" parTransId="{8D767989-0039-40DB-BA8A-0BD0A5F2C416}" sibTransId="{20584DC9-3583-450F-AFF0-3BE5F6161EFC}"/>
    <dgm:cxn modelId="{D05C7AC6-70B4-401E-9D37-D0658D0D8391}" type="presOf" srcId="{C6951832-6616-450C-BAA4-FAA7A8A2F37C}" destId="{29F9733C-DB80-4B74-AF2F-326B36AF99BE}" srcOrd="0" destOrd="0" presId="urn:microsoft.com/office/officeart/2018/2/layout/IconLabelList"/>
    <dgm:cxn modelId="{E9F83F56-D5AC-4786-8B25-68C614B4B008}" type="presParOf" srcId="{648095D3-6B64-4B06-8C2F-35200546829E}" destId="{6E8F8BBE-7AFD-4C34-BFC8-669DB543FC3C}" srcOrd="0" destOrd="0" presId="urn:microsoft.com/office/officeart/2018/2/layout/IconLabelList"/>
    <dgm:cxn modelId="{F585800F-95C0-4138-BB09-E141297BE930}" type="presParOf" srcId="{6E8F8BBE-7AFD-4C34-BFC8-669DB543FC3C}" destId="{2CB1C7C4-1933-45AF-A142-7D66CD98BB8F}" srcOrd="0" destOrd="0" presId="urn:microsoft.com/office/officeart/2018/2/layout/IconLabelList"/>
    <dgm:cxn modelId="{A5DE3EA8-C092-4E88-BA8D-5B91F754D74E}" type="presParOf" srcId="{6E8F8BBE-7AFD-4C34-BFC8-669DB543FC3C}" destId="{14A456BE-D18C-412A-8FE6-6ADB99AC1F62}" srcOrd="1" destOrd="0" presId="urn:microsoft.com/office/officeart/2018/2/layout/IconLabelList"/>
    <dgm:cxn modelId="{ADC1E27E-CF1A-4E61-8B39-A134FBB5F025}" type="presParOf" srcId="{6E8F8BBE-7AFD-4C34-BFC8-669DB543FC3C}" destId="{29F9733C-DB80-4B74-AF2F-326B36AF99BE}" srcOrd="2" destOrd="0" presId="urn:microsoft.com/office/officeart/2018/2/layout/IconLabelList"/>
    <dgm:cxn modelId="{C6DB2417-42BF-4580-AE54-41130DA8FCB8}" type="presParOf" srcId="{648095D3-6B64-4B06-8C2F-35200546829E}" destId="{6FBA6A5B-96D0-4D7E-8063-F332FD2B53FE}" srcOrd="1" destOrd="0" presId="urn:microsoft.com/office/officeart/2018/2/layout/IconLabelList"/>
    <dgm:cxn modelId="{1660794D-2460-4CC7-8FC8-14F73251253E}" type="presParOf" srcId="{648095D3-6B64-4B06-8C2F-35200546829E}" destId="{706FC86B-EBD2-4B87-A5F9-F0C9984E7E2F}" srcOrd="2" destOrd="0" presId="urn:microsoft.com/office/officeart/2018/2/layout/IconLabelList"/>
    <dgm:cxn modelId="{17B7C373-A314-43CD-B64F-62431AACE8CE}" type="presParOf" srcId="{706FC86B-EBD2-4B87-A5F9-F0C9984E7E2F}" destId="{811708FE-3F96-40DE-8844-8D037238AE31}" srcOrd="0" destOrd="0" presId="urn:microsoft.com/office/officeart/2018/2/layout/IconLabelList"/>
    <dgm:cxn modelId="{5A516CA6-E4B8-431D-ABA2-ACB7C540C72F}" type="presParOf" srcId="{706FC86B-EBD2-4B87-A5F9-F0C9984E7E2F}" destId="{E72916B9-F92E-453F-B414-DC89F023560D}" srcOrd="1" destOrd="0" presId="urn:microsoft.com/office/officeart/2018/2/layout/IconLabelList"/>
    <dgm:cxn modelId="{B4A5BB85-B2DA-445D-A399-00A96AFFEFAF}" type="presParOf" srcId="{706FC86B-EBD2-4B87-A5F9-F0C9984E7E2F}" destId="{B192A8DE-F2E8-474C-910D-DCDB8567937F}" srcOrd="2" destOrd="0" presId="urn:microsoft.com/office/officeart/2018/2/layout/IconLabelList"/>
    <dgm:cxn modelId="{ABECA752-67D0-4644-B0E6-3459201A35F2}" type="presParOf" srcId="{648095D3-6B64-4B06-8C2F-35200546829E}" destId="{10E26A12-6548-426D-AB78-15E5BBC1BED1}" srcOrd="3" destOrd="0" presId="urn:microsoft.com/office/officeart/2018/2/layout/IconLabelList"/>
    <dgm:cxn modelId="{2E6AE8CF-A4EA-4C90-9FF1-492C3762A002}" type="presParOf" srcId="{648095D3-6B64-4B06-8C2F-35200546829E}" destId="{68AE414A-BE2F-466B-9C28-00073293E56E}" srcOrd="4" destOrd="0" presId="urn:microsoft.com/office/officeart/2018/2/layout/IconLabelList"/>
    <dgm:cxn modelId="{BBD477AB-C453-4AD6-BEFA-48F9D7036290}" type="presParOf" srcId="{68AE414A-BE2F-466B-9C28-00073293E56E}" destId="{47E24B5B-1206-4ED3-95AD-63E5C284812C}" srcOrd="0" destOrd="0" presId="urn:microsoft.com/office/officeart/2018/2/layout/IconLabelList"/>
    <dgm:cxn modelId="{F1EA00A3-3B82-44E5-966D-74CF23B18113}" type="presParOf" srcId="{68AE414A-BE2F-466B-9C28-00073293E56E}" destId="{CEE2E909-157B-42AF-91E0-388282B874A7}" srcOrd="1" destOrd="0" presId="urn:microsoft.com/office/officeart/2018/2/layout/IconLabelList"/>
    <dgm:cxn modelId="{9A668A96-FB3F-4012-A4EC-C0951C906C20}" type="presParOf" srcId="{68AE414A-BE2F-466B-9C28-00073293E56E}" destId="{FE62A636-C755-4603-A8CD-CDA0804DF4B0}" srcOrd="2" destOrd="0" presId="urn:microsoft.com/office/officeart/2018/2/layout/IconLabelList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E6244-205E-40C3-B260-E52538B15AF9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FFDA48-D939-496E-992D-3C8061CDDD25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9EE73-9149-425C-9CB1-3B9ED2E6C615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Proceso:</a:t>
          </a:r>
          <a:r>
            <a:rPr lang="es-MX" sz="1400" kern="1200" dirty="0"/>
            <a:t> Transición de ‘</a:t>
          </a:r>
          <a:r>
            <a:rPr lang="es-MX" sz="1400" kern="1200" dirty="0" err="1"/>
            <a:t>RandomizedSearchCV</a:t>
          </a:r>
          <a:r>
            <a:rPr lang="es-MX" sz="1400" kern="1200" dirty="0"/>
            <a:t>’ (exploración) a ‘</a:t>
          </a:r>
          <a:r>
            <a:rPr lang="es-MX" sz="1400" kern="1200" dirty="0" err="1"/>
            <a:t>GridSearchCV</a:t>
          </a:r>
          <a:r>
            <a:rPr lang="es-MX" sz="1400" kern="1200" dirty="0"/>
            <a:t>’ (precisión).</a:t>
          </a:r>
          <a:endParaRPr lang="en-US" sz="1400" kern="1200" dirty="0"/>
        </a:p>
      </dsp:txBody>
      <dsp:txXfrm>
        <a:off x="1819120" y="673"/>
        <a:ext cx="4545103" cy="1574995"/>
      </dsp:txXfrm>
    </dsp:sp>
    <dsp:sp modelId="{C2190074-D4DC-4048-AF59-2FFF5CED5196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58D67-7AF2-4FD6-9F42-615E4622A63E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B6CE8-F5E7-490A-B493-17D619D4482D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Impacto:</a:t>
          </a:r>
          <a:r>
            <a:rPr lang="es-MX" sz="1400" kern="1200" dirty="0"/>
            <a:t> Mejora del 5-10% en el error cuadrático medio tras ajustar ‘n_estimators’ y ‘</a:t>
          </a:r>
          <a:r>
            <a:rPr lang="es-MX" sz="1400" kern="1200" dirty="0" err="1"/>
            <a:t>max_depth</a:t>
          </a:r>
          <a:r>
            <a:rPr lang="es-MX" sz="1400" kern="1200" dirty="0"/>
            <a:t>’.</a:t>
          </a:r>
          <a:endParaRPr lang="en-US" sz="1400" kern="1200" dirty="0"/>
        </a:p>
      </dsp:txBody>
      <dsp:txXfrm>
        <a:off x="1819120" y="1969418"/>
        <a:ext cx="4545103" cy="1574995"/>
      </dsp:txXfrm>
    </dsp:sp>
    <dsp:sp modelId="{170D4250-2BB0-4FD8-8DDF-7C91950CF21C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53C48-04A0-4E31-A154-A50ADABBC2A6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B9913-C72C-467B-A142-2C7456CFB5EC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0" i="0" kern="1200" dirty="0"/>
            <a:t>Tras el </a:t>
          </a:r>
          <a:r>
            <a:rPr lang="es-ES" sz="1400" b="0" i="1" kern="1200" dirty="0"/>
            <a:t>GridSearch</a:t>
          </a:r>
          <a:r>
            <a:rPr lang="es-ES" sz="1400" b="0" i="0" kern="1200" dirty="0"/>
            <a:t> para encontrar los mejores hiperparámetros, procedemos a la </a:t>
          </a:r>
          <a:r>
            <a:rPr lang="es-ES" sz="1400" b="1" i="0" kern="1200" dirty="0"/>
            <a:t>Serialización del Modelo lo que </a:t>
          </a:r>
          <a:r>
            <a:rPr lang="es-ES" sz="1400" b="0" i="0" kern="1200" dirty="0"/>
            <a:t>Permite cargar el modelo en una aplicación real (Web/App) para predecir calorías de nuevos socios al instante </a:t>
          </a:r>
          <a:r>
            <a:rPr lang="es-ES" sz="1400" b="1" i="0" kern="1200" dirty="0"/>
            <a:t>sin volver a entrenar</a:t>
          </a:r>
          <a:r>
            <a:rPr lang="es-ES" sz="1400" b="0" i="0" kern="1200" dirty="0"/>
            <a:t>.</a:t>
          </a:r>
          <a:endParaRPr lang="en-US" sz="1400" kern="1200" dirty="0">
            <a:solidFill>
              <a:srgbClr val="C00000"/>
            </a:solidFill>
          </a:endParaRPr>
        </a:p>
      </dsp:txBody>
      <dsp:txXfrm>
        <a:off x="1819120" y="3938162"/>
        <a:ext cx="4545103" cy="1574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1C7C4-1933-45AF-A142-7D66CD98BB8F}">
      <dsp:nvSpPr>
        <dsp:cNvPr id="0" name=""/>
        <dsp:cNvSpPr/>
      </dsp:nvSpPr>
      <dsp:spPr>
        <a:xfrm>
          <a:off x="1006860" y="979752"/>
          <a:ext cx="1466715" cy="1466715"/>
        </a:xfrm>
        <a:prstGeom prst="rect">
          <a:avLst/>
        </a:prstGeom>
        <a:blipFill>
          <a:blip xmlns:r="http://schemas.openxmlformats.org/officeDocument/2006/relationships">
            <a:alphaModFix amt="8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9733C-DB80-4B74-AF2F-326B36AF99BE}">
      <dsp:nvSpPr>
        <dsp:cNvPr id="0" name=""/>
        <dsp:cNvSpPr/>
      </dsp:nvSpPr>
      <dsp:spPr>
        <a:xfrm>
          <a:off x="110534" y="2925408"/>
          <a:ext cx="3259367" cy="1246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Dificultad:</a:t>
          </a:r>
          <a:r>
            <a:rPr lang="es-MX" sz="1600" kern="1200" dirty="0"/>
            <a:t> El manejo de </a:t>
          </a:r>
          <a:r>
            <a:rPr lang="es-MX" sz="1600" kern="1200" dirty="0" err="1"/>
            <a:t>outliers</a:t>
          </a:r>
          <a:r>
            <a:rPr lang="es-MX" sz="1600" kern="1200" dirty="0"/>
            <a:t> en la duración de la sesión fue crítico para no sesgar el modelo.</a:t>
          </a:r>
          <a:endParaRPr lang="en-US" sz="1600" kern="1200" dirty="0"/>
        </a:p>
      </dsp:txBody>
      <dsp:txXfrm>
        <a:off x="110534" y="2925408"/>
        <a:ext cx="3259367" cy="1246942"/>
      </dsp:txXfrm>
    </dsp:sp>
    <dsp:sp modelId="{811708FE-3F96-40DE-8844-8D037238AE31}">
      <dsp:nvSpPr>
        <dsp:cNvPr id="0" name=""/>
        <dsp:cNvSpPr/>
      </dsp:nvSpPr>
      <dsp:spPr>
        <a:xfrm>
          <a:off x="4836616" y="979752"/>
          <a:ext cx="1466715" cy="14667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2A8DE-F2E8-474C-910D-DCDB8567937F}">
      <dsp:nvSpPr>
        <dsp:cNvPr id="0" name=""/>
        <dsp:cNvSpPr/>
      </dsp:nvSpPr>
      <dsp:spPr>
        <a:xfrm>
          <a:off x="3940290" y="2925408"/>
          <a:ext cx="3259367" cy="1246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Aprendizaje:</a:t>
          </a:r>
          <a:r>
            <a:rPr lang="es-MX" sz="1600" kern="1200" dirty="0"/>
            <a:t> El IMC (BMI) resultó ser más informativo que el peso por sí solo para predecir el porcentaje de grasa.</a:t>
          </a:r>
          <a:endParaRPr lang="en-US" sz="1600" kern="1200" dirty="0"/>
        </a:p>
      </dsp:txBody>
      <dsp:txXfrm>
        <a:off x="3940290" y="2925408"/>
        <a:ext cx="3259367" cy="1246942"/>
      </dsp:txXfrm>
    </dsp:sp>
    <dsp:sp modelId="{47E24B5B-1206-4ED3-95AD-63E5C284812C}">
      <dsp:nvSpPr>
        <dsp:cNvPr id="0" name=""/>
        <dsp:cNvSpPr/>
      </dsp:nvSpPr>
      <dsp:spPr>
        <a:xfrm>
          <a:off x="8666373" y="979752"/>
          <a:ext cx="1466715" cy="14667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2A636-C755-4603-A8CD-CDA0804DF4B0}">
      <dsp:nvSpPr>
        <dsp:cNvPr id="0" name=""/>
        <dsp:cNvSpPr/>
      </dsp:nvSpPr>
      <dsp:spPr>
        <a:xfrm>
          <a:off x="7770047" y="2925408"/>
          <a:ext cx="3259367" cy="12469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Recomendación:</a:t>
          </a:r>
          <a:r>
            <a:rPr lang="es-MX" sz="1600" kern="1200" dirty="0"/>
            <a:t> Integrar datos de frecuencia cardíaca en tiempo real para alertar a los usuarios cuando están fuera de su zona de quema óptima.</a:t>
          </a:r>
          <a:endParaRPr lang="en-US" sz="1600" kern="1200" dirty="0"/>
        </a:p>
      </dsp:txBody>
      <dsp:txXfrm>
        <a:off x="7770047" y="2925408"/>
        <a:ext cx="3259367" cy="1246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F7448-C00D-97FB-DEEB-16E14DB01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25E2A8-617D-959F-C450-5075DC89B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896C54-1D82-EDC5-AA13-72DA08D2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5C466A-DC68-6857-4F10-514B4CBF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77E48-C235-59B6-B9FE-617C3553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99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90C6D-8F5F-F34A-2127-5CF9C392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B497CA-AFBB-0DDC-1482-1F04650E9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A480E3-E8DF-9558-34BA-4589A553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5B813D-743D-851E-CF13-7E8F05DD5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581A7F-6FFC-98CF-7F6D-B3ADFCBF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142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E0054-6C43-684F-9F2C-47F3768E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87C028-D2AC-D96C-C1D4-1C7E3546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C1B5AB-9F15-C544-302E-5D8D63B8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28B441-153E-3889-B3B5-DC11D922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FE4A47-9A50-A129-FBC3-1BC6D5C2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119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FC9DE-E6EC-A7BA-1B24-ED345F3E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9327C-E3CB-604D-15CE-9BE228EC9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CB8D64-691F-2662-BF50-BC7FCB0C1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BFBF7F-C150-D126-5B62-275CE39B6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0602E7-761A-6473-130E-9A17AC89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491DB-BA84-9C38-0FD0-211C7A84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856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A3D24-516D-BFBD-937B-742FAAA5A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A9A9EE-93D9-EC34-27B1-950124572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58A2E0-46E3-6069-9F58-D46B70F03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E6B606-7E3E-E711-8676-CC2F0F028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6480C1-4686-C56B-FF40-47DE83E05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DE0D77-B3EA-43BA-2A96-E6B5073BB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A6A1C7-B130-A141-3E5C-B54E588D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D4159E-870B-7A1D-575E-A3CE4945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033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BD315-CF27-17FD-9738-95ADAC8F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1B2A1CD-FFE4-BB3B-9AF6-11726765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4736B00-61D2-CA44-7764-3A55BC38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46E5D1-09CB-AB2A-FA56-238D3504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907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5607BE-ED5E-2723-EAFE-3006F17F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069915-6107-43DE-9311-DCAB3B68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F6A123-2F35-E736-01E2-E185B23C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070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06CAA-1AB3-A145-6553-5FA3F7B7C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80FBE8-6350-40D5-2E84-074BDF633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A4413D-9426-B136-60CD-0EE9B4E78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C60D87-68DD-91E9-9A54-76F048A6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9A8F2A-5444-F29C-19BB-6825E35D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2ECDB5-B9F4-97D7-5DEA-AF69272E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266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C1BAC-60C3-31E7-5738-4E16A0C7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22F0E0-F7DF-3E09-9C9E-610DE97EF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8B69A1-0A5C-157E-A9ED-4012EBD47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D82B96-9D53-995E-09CE-184495FDE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88AF68-1E1E-1A0A-6D45-F07A8448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EEB9EF-1711-A3BE-177D-0DBC9590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07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2000F-1689-2438-DDF8-86E05BA7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80C5CC-9AF5-AA03-2752-23243EDD0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4A8BD-1A76-4E88-9BFD-43903C3F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6E089C-B1AB-692B-8F7E-4AA825CE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3E21B4-5912-EE9F-5F8E-992DD008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711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083C2D-F93B-F008-ADFC-83ABBBC55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4162B97-F4A2-5CB7-2D85-132AC2808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090C24-2419-03FD-00D2-764F4576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F3B77E-AE21-7D3B-9F35-1D033C91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3B9730-D279-90B5-3497-79285CD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678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6FC41C-5BEF-7220-EAF4-0D3D809B1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B946BD-33B5-D967-2771-EE19F1D91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68223A-AACA-8D30-6111-19F11737D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5ECA4-F98B-447B-8846-E96468E0ACD5}" type="datetimeFigureOut">
              <a:rPr lang="es-CL" smtClean="0"/>
              <a:t>10-05-2026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B51C0E-C52F-BDEF-2274-9AAF7AEB4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D417F3-9193-DD26-9310-1C428EAC8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3B169-2185-4664-B08B-A0D6E207612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596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1F95A-520E-67AD-5A5B-2BFE0D2E0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s-MX" dirty="0"/>
              <a:t>Optimización del Rendimiento Físico: Análisis Predictivo de Socios de Gimnasio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736BE-6BAA-B000-0FBE-FB9972C78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s-MX" dirty="0"/>
              <a:t>Integrantes: Diego Villar, Ignacio Arriagada y José Rojas</a:t>
            </a:r>
          </a:p>
          <a:p>
            <a:r>
              <a:rPr lang="es-MX" dirty="0"/>
              <a:t>Profesor: Ronald Villalobos</a:t>
            </a:r>
          </a:p>
          <a:p>
            <a:r>
              <a:rPr lang="es-MX" dirty="0"/>
              <a:t>Sección: 800D</a:t>
            </a:r>
          </a:p>
          <a:p>
            <a:r>
              <a:rPr lang="es-MX" dirty="0"/>
              <a:t>Grupo: 7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476CC55-4C1C-F0EF-129E-A3B2E341822F}"/>
              </a:ext>
            </a:extLst>
          </p:cNvPr>
          <p:cNvCxnSpPr>
            <a:cxnSpLocks/>
          </p:cNvCxnSpPr>
          <p:nvPr/>
        </p:nvCxnSpPr>
        <p:spPr>
          <a:xfrm>
            <a:off x="1524000" y="3429000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74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A7DC5-2CB0-FA0F-1CB3-D9259CAD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CL" sz="5400" dirty="0"/>
              <a:t>Contexto y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47040A-06F2-6C90-C9A6-498F20D55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441448"/>
            <a:ext cx="6894576" cy="3483864"/>
          </a:xfrm>
        </p:spPr>
        <p:txBody>
          <a:bodyPr>
            <a:normAutofit/>
          </a:bodyPr>
          <a:lstStyle/>
          <a:p>
            <a:r>
              <a:rPr lang="es-MX" sz="2200" b="1" dirty="0"/>
              <a:t>El Reto:</a:t>
            </a:r>
            <a:r>
              <a:rPr lang="es-MX" sz="2200" dirty="0"/>
              <a:t> Personalizar planes de entrenamiento basados en datos reales, no en suposiciones.</a:t>
            </a:r>
          </a:p>
          <a:p>
            <a:pPr marL="0" indent="0">
              <a:buNone/>
            </a:pPr>
            <a:endParaRPr lang="es-MX" sz="2200" dirty="0"/>
          </a:p>
          <a:p>
            <a:r>
              <a:rPr lang="es-MX" sz="2200" b="1" dirty="0"/>
              <a:t>Objetivo:</a:t>
            </a:r>
            <a:r>
              <a:rPr lang="es-MX" sz="2200" dirty="0"/>
              <a:t> Identificar patrones de quema calórica y segmentar usuarios según su perfil fisiológico (BPM, IMC, Edad).</a:t>
            </a:r>
          </a:p>
          <a:p>
            <a:endParaRPr lang="es-CL" sz="2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BD9283-A75F-4876-E445-480108D3FD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7863840" y="633767"/>
            <a:ext cx="4014216" cy="3483864"/>
          </a:xfrm>
          <a:prstGeom prst="rect">
            <a:avLst/>
          </a:prstGeom>
          <a:effectLst>
            <a:glow>
              <a:schemeClr val="bg1"/>
            </a:glow>
            <a:outerShdw blurRad="50800" dist="38100" dir="2700000" algn="tl" rotWithShape="0">
              <a:prstClr val="black">
                <a:alpha val="40000"/>
              </a:prstClr>
            </a:outerShdw>
            <a:reflection endPos="0" dist="50800" dir="5400000" sy="-100000" algn="bl" rotWithShape="0"/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AFC609D-397D-0535-0265-0F8B36D2BD4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tretch>
            <a:fillRect/>
          </a:stretch>
        </p:blipFill>
        <p:spPr>
          <a:xfrm>
            <a:off x="560331" y="4947553"/>
            <a:ext cx="11299437" cy="12429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CA84923-18A8-4417-F2D3-216916CB8112}"/>
              </a:ext>
            </a:extLst>
          </p:cNvPr>
          <p:cNvCxnSpPr>
            <a:cxnSpLocks/>
          </p:cNvCxnSpPr>
          <p:nvPr/>
        </p:nvCxnSpPr>
        <p:spPr>
          <a:xfrm>
            <a:off x="560331" y="2126856"/>
            <a:ext cx="68945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38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91B09-D598-8CA1-A738-9B583D6A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-532265"/>
            <a:ext cx="11179026" cy="1783080"/>
          </a:xfrm>
        </p:spPr>
        <p:txBody>
          <a:bodyPr anchor="b">
            <a:normAutofit/>
          </a:bodyPr>
          <a:lstStyle/>
          <a:p>
            <a:r>
              <a:rPr lang="es-MX" sz="4600" dirty="0"/>
              <a:t>Distribución de la Población y Entrenamiento</a:t>
            </a:r>
            <a:endParaRPr lang="es-CL" sz="4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A24479-3817-87C9-2EFE-5EC13CC8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410563"/>
            <a:ext cx="7900805" cy="3483864"/>
          </a:xfrm>
        </p:spPr>
        <p:txBody>
          <a:bodyPr>
            <a:normAutofit/>
          </a:bodyPr>
          <a:lstStyle/>
          <a:p>
            <a:r>
              <a:rPr lang="es-MX" sz="2200" b="1" dirty="0"/>
              <a:t>Análisis de la base de usuarios: </a:t>
            </a:r>
            <a:r>
              <a:rPr lang="es-MX" sz="2200" dirty="0"/>
              <a:t>Equilibrio entre géneros y tipos de entrenamiento.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723C0C-6BD9-26B0-C87C-65B029EB51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80" y="2232954"/>
            <a:ext cx="3832702" cy="39717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D575562-6668-3099-6FA1-D81F6F2CCB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816" y="3040023"/>
            <a:ext cx="3613603" cy="3452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EFC27B4-7F3D-736A-A80B-E8C1BC6B7E08}"/>
              </a:ext>
            </a:extLst>
          </p:cNvPr>
          <p:cNvSpPr txBox="1"/>
          <p:nvPr/>
        </p:nvSpPr>
        <p:spPr>
          <a:xfrm>
            <a:off x="5890045" y="2119530"/>
            <a:ext cx="62106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b="1" dirty="0"/>
              <a:t>Identificación de la distribución de calorías</a:t>
            </a:r>
            <a:r>
              <a:rPr lang="es-MX" sz="2200" dirty="0"/>
              <a:t>: La mayoría de las sesiones queman entre 300 y 800 calorías.</a:t>
            </a:r>
            <a:endParaRPr lang="es-CL" sz="2200" dirty="0"/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67185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7B2AE-E7B0-7FA4-B685-E1085373B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s-MX" sz="3200"/>
              <a:t>Análisis Exploratorio: Los Motores del Gasto Calórico</a:t>
            </a:r>
            <a:endParaRPr lang="es-CL" sz="3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D825CA-E3B8-9DF2-BBD3-3DCE8AFE3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s-MX" sz="2000" b="1" dirty="0"/>
              <a:t>Correlación Crítica:</a:t>
            </a:r>
            <a:r>
              <a:rPr lang="es-MX" sz="2000" dirty="0"/>
              <a:t> La duración de la sesión es el factor #1 en la quema calórica.</a:t>
            </a:r>
          </a:p>
          <a:p>
            <a:pPr marL="0" indent="0">
              <a:buNone/>
            </a:pPr>
            <a:endParaRPr lang="es-MX" sz="2000" dirty="0"/>
          </a:p>
          <a:p>
            <a:r>
              <a:rPr lang="es-MX" sz="2000" b="1" dirty="0"/>
              <a:t>Impacto de la Intensidad:</a:t>
            </a:r>
            <a:r>
              <a:rPr lang="es-MX" sz="2000" dirty="0"/>
              <a:t> Relación directa entre </a:t>
            </a:r>
            <a:r>
              <a:rPr lang="es-MX" sz="2000" dirty="0" err="1"/>
              <a:t>Avg_BPM</a:t>
            </a:r>
            <a:r>
              <a:rPr lang="es-MX" sz="2000" dirty="0"/>
              <a:t> y eficiencia calórica.</a:t>
            </a:r>
          </a:p>
          <a:p>
            <a:endParaRPr lang="es-CL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5CADF9-CE32-3EBB-A75E-41B2AC6CF9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734" y="870819"/>
            <a:ext cx="6172885" cy="49383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B5A218B-2AD4-9C37-EAAE-62E0E4719F1A}"/>
              </a:ext>
            </a:extLst>
          </p:cNvPr>
          <p:cNvCxnSpPr>
            <a:cxnSpLocks/>
          </p:cNvCxnSpPr>
          <p:nvPr/>
        </p:nvCxnSpPr>
        <p:spPr>
          <a:xfrm>
            <a:off x="730779" y="2372185"/>
            <a:ext cx="4597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82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73937-DE49-A0CA-4E55-86994E84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45" y="1133644"/>
            <a:ext cx="4544762" cy="1401183"/>
          </a:xfrm>
        </p:spPr>
        <p:txBody>
          <a:bodyPr anchor="t">
            <a:normAutofit/>
          </a:bodyPr>
          <a:lstStyle/>
          <a:p>
            <a:r>
              <a:rPr lang="es-MX" sz="3200" dirty="0"/>
              <a:t>Justificación del Enfoque: PCA y Segmentación</a:t>
            </a:r>
            <a:endParaRPr lang="es-CL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854D69-07A1-A239-63E1-320569F86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MX" sz="2000" b="1" dirty="0"/>
              <a:t>Reducción de Dimensionalidad:</a:t>
            </a:r>
            <a:r>
              <a:rPr lang="es-MX" sz="2000" dirty="0"/>
              <a:t> Uso de PCA para visualizar la varianza del esfuerzo físico en 2D.</a:t>
            </a:r>
          </a:p>
          <a:p>
            <a:pPr marL="0" indent="0">
              <a:buNone/>
            </a:pPr>
            <a:endParaRPr lang="es-MX" sz="2000" dirty="0"/>
          </a:p>
          <a:p>
            <a:r>
              <a:rPr lang="es-MX" sz="2000" b="1" dirty="0"/>
              <a:t>Justificación:</a:t>
            </a:r>
            <a:r>
              <a:rPr lang="es-MX" sz="2000" dirty="0"/>
              <a:t> Los datos no son lineales; se observa una dispersión que justifica modelos complejos (Random Forest/KNN) sobre regresiones simples.</a:t>
            </a:r>
          </a:p>
          <a:p>
            <a:endParaRPr lang="es-CL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992860-5F8E-6436-32E5-F7A775A224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659" y="1313383"/>
            <a:ext cx="6898356" cy="45329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14BA212-BF87-1A4C-A905-7A9A9E610225}"/>
              </a:ext>
            </a:extLst>
          </p:cNvPr>
          <p:cNvCxnSpPr>
            <a:cxnSpLocks/>
          </p:cNvCxnSpPr>
          <p:nvPr/>
        </p:nvCxnSpPr>
        <p:spPr>
          <a:xfrm>
            <a:off x="622445" y="2222769"/>
            <a:ext cx="41441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755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6813-880D-5A27-CE4C-76E0EA31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FF5CFD-59D1-6AB5-9651-4E476737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887" y="0"/>
            <a:ext cx="8410225" cy="1616203"/>
          </a:xfrm>
        </p:spPr>
        <p:txBody>
          <a:bodyPr anchor="b">
            <a:normAutofit/>
          </a:bodyPr>
          <a:lstStyle/>
          <a:p>
            <a:r>
              <a:rPr lang="es-CL" sz="3200" dirty="0"/>
              <a:t>Aprendizaje No Supervisado: Método del Codo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EF6F14D-A427-0386-1C23-9DE67E2E6DE5}"/>
              </a:ext>
            </a:extLst>
          </p:cNvPr>
          <p:cNvCxnSpPr>
            <a:cxnSpLocks/>
          </p:cNvCxnSpPr>
          <p:nvPr/>
        </p:nvCxnSpPr>
        <p:spPr>
          <a:xfrm>
            <a:off x="1737360" y="1616203"/>
            <a:ext cx="85637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B24ABCF2-D393-20FD-65C1-448116BF80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2197777" y="1931453"/>
            <a:ext cx="7796446" cy="43668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518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57DBB-4B93-9530-EBC0-380AB85B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55" y="741391"/>
            <a:ext cx="4051923" cy="1616203"/>
          </a:xfrm>
        </p:spPr>
        <p:txBody>
          <a:bodyPr anchor="b">
            <a:normAutofit/>
          </a:bodyPr>
          <a:lstStyle/>
          <a:p>
            <a:r>
              <a:rPr lang="es-CL" sz="3200" dirty="0"/>
              <a:t>Aprendizaje No Supervisado: K-Means Clustering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D3CCE7-EA0E-3132-5AF4-5A3A32E5B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r>
              <a:rPr lang="es-MX" sz="2000" b="1" dirty="0"/>
              <a:t>Segmentación:</a:t>
            </a:r>
            <a:r>
              <a:rPr lang="es-MX" sz="2000" dirty="0"/>
              <a:t> Los socios se agrupan naturalmente en 3 perfiles (ej. Alto Rendimiento, Cardio Moderado, Fuerza/Recuperación).</a:t>
            </a:r>
          </a:p>
          <a:p>
            <a:pPr marL="0" indent="0">
              <a:buNone/>
            </a:pPr>
            <a:endParaRPr lang="es-MX" sz="2000" dirty="0"/>
          </a:p>
          <a:p>
            <a:r>
              <a:rPr lang="es-MX" sz="2000" b="1" dirty="0"/>
              <a:t>Pertinencia:</a:t>
            </a:r>
            <a:r>
              <a:rPr lang="es-MX" sz="2000" dirty="0"/>
              <a:t> Esto permite al gimnasio automatizar recomendaciones personalizadas.</a:t>
            </a:r>
          </a:p>
          <a:p>
            <a:endParaRPr lang="es-CL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5C515E-44EC-848E-8CE5-E266B5CFA8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257" y="1372335"/>
            <a:ext cx="6855549" cy="411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8F92A2-6A26-CBD6-B07D-7EF0C5A8A80D}"/>
              </a:ext>
            </a:extLst>
          </p:cNvPr>
          <p:cNvCxnSpPr>
            <a:cxnSpLocks/>
          </p:cNvCxnSpPr>
          <p:nvPr/>
        </p:nvCxnSpPr>
        <p:spPr>
          <a:xfrm>
            <a:off x="688055" y="2357594"/>
            <a:ext cx="394231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00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0CD67-80D4-FD03-CC03-D92E9892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s-CL" sz="2700" dirty="0"/>
              <a:t>Aprendizaje Supervisado: Estrategia de Modelado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E30EA-DC9E-2970-18EA-8F9FA8769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 lnSpcReduction="10000"/>
          </a:bodyPr>
          <a:lstStyle/>
          <a:p>
            <a:r>
              <a:rPr lang="es-MX" sz="2000" b="1" dirty="0"/>
              <a:t>Método de uso</a:t>
            </a:r>
            <a:r>
              <a:rPr lang="es-MX" sz="2000" dirty="0"/>
              <a:t>: Se estandarizan los datos y se escalan para que todos tengan la misma preferencia</a:t>
            </a:r>
          </a:p>
          <a:p>
            <a:pPr marL="0" indent="0">
              <a:buNone/>
            </a:pPr>
            <a:endParaRPr lang="es-MX" sz="2000" dirty="0"/>
          </a:p>
          <a:p>
            <a:r>
              <a:rPr lang="es-MX" sz="2000" b="1" dirty="0"/>
              <a:t>Prevención de Fuga de Datos:</a:t>
            </a:r>
            <a:r>
              <a:rPr lang="es-MX" sz="2000" dirty="0"/>
              <a:t> Implementación de </a:t>
            </a:r>
            <a:r>
              <a:rPr lang="es-MX" sz="2000" b="1" dirty="0"/>
              <a:t>Pipelines</a:t>
            </a:r>
            <a:r>
              <a:rPr lang="es-MX" sz="2000" dirty="0"/>
              <a:t> para asegurar que el escalado (StandardScaler) sea transparente y seguro.</a:t>
            </a:r>
          </a:p>
          <a:p>
            <a:endParaRPr lang="es-CL" sz="20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37D80E2-E9DC-7175-E64C-64DAD4AAA7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72" y="1363184"/>
            <a:ext cx="6389346" cy="4140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AA03638-CC76-55AE-3742-888C93D6D01A}"/>
              </a:ext>
            </a:extLst>
          </p:cNvPr>
          <p:cNvCxnSpPr>
            <a:cxnSpLocks/>
          </p:cNvCxnSpPr>
          <p:nvPr/>
        </p:nvCxnSpPr>
        <p:spPr>
          <a:xfrm>
            <a:off x="876693" y="2357594"/>
            <a:ext cx="34558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7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704AA28-AD35-E56C-CC4E-E7017FC9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0" y="576018"/>
            <a:ext cx="3695310" cy="958452"/>
          </a:xfrm>
        </p:spPr>
        <p:txBody>
          <a:bodyPr anchor="b">
            <a:normAutofit/>
          </a:bodyPr>
          <a:lstStyle/>
          <a:p>
            <a:r>
              <a:rPr lang="es-ES" sz="2800" dirty="0"/>
              <a:t>Comportamiento según Nivel de Experiencia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96EEF8C-151D-3B50-DC4C-41992BEC2B9B}"/>
              </a:ext>
            </a:extLst>
          </p:cNvPr>
          <p:cNvSpPr txBox="1">
            <a:spLocks/>
          </p:cNvSpPr>
          <p:nvPr/>
        </p:nvSpPr>
        <p:spPr>
          <a:xfrm>
            <a:off x="876692" y="2620898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27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DF91AF-6867-1472-FC1C-05EFE82C3F24}"/>
              </a:ext>
            </a:extLst>
          </p:cNvPr>
          <p:cNvSpPr txBox="1"/>
          <p:nvPr/>
        </p:nvSpPr>
        <p:spPr>
          <a:xfrm>
            <a:off x="876690" y="1655285"/>
            <a:ext cx="110236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Curva de Adaptación: </a:t>
            </a:r>
            <a:r>
              <a:rPr lang="es-CL" dirty="0"/>
              <a:t>La tabla revela como evoluciona la respuesta fisiológica a medida que el socio del gimnasio gana experiencia.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Eficiencia Cardiaca: </a:t>
            </a:r>
            <a:r>
              <a:rPr lang="es-CL" dirty="0"/>
              <a:t>Los usuarios con mayor nivel de experiencia tienden a gestionar mejor sus niveles de BPM, logrando entrenamientos mas intensos con menor estrés cardiaco relativo.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Consistencia: </a:t>
            </a:r>
            <a:r>
              <a:rPr lang="es-CL" dirty="0"/>
              <a:t>Se observa una correlación directa entre el nivel de experiencia y la duración/frecuencia de las sesiones, validando que el habito mejora la capacidad de trabajo físico.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60151A5-C710-0E3B-D39E-14428B9C2B17}"/>
              </a:ext>
            </a:extLst>
          </p:cNvPr>
          <p:cNvCxnSpPr>
            <a:cxnSpLocks/>
          </p:cNvCxnSpPr>
          <p:nvPr/>
        </p:nvCxnSpPr>
        <p:spPr>
          <a:xfrm flipV="1">
            <a:off x="876690" y="1534470"/>
            <a:ext cx="3768462" cy="7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E6A9EAAF-5AFE-ED0D-EC02-02942413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92" y="4145254"/>
            <a:ext cx="8476184" cy="23565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429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D33D-E6BB-4C8A-8A9E-C6E94B95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920F4DF-D1F1-AA2B-0E58-1EF4667D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0" y="478088"/>
            <a:ext cx="3695310" cy="1616203"/>
          </a:xfrm>
        </p:spPr>
        <p:txBody>
          <a:bodyPr anchor="b">
            <a:normAutofit/>
          </a:bodyPr>
          <a:lstStyle/>
          <a:p>
            <a:r>
              <a:rPr lang="es-ES" sz="2800" dirty="0"/>
              <a:t>Desempeño Promedio por Tipo de Entrenamiento</a:t>
            </a:r>
            <a:endParaRPr lang="es-CL" sz="270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098AF7B-267C-9243-88DB-6980D0DB8462}"/>
              </a:ext>
            </a:extLst>
          </p:cNvPr>
          <p:cNvSpPr txBox="1">
            <a:spLocks/>
          </p:cNvSpPr>
          <p:nvPr/>
        </p:nvSpPr>
        <p:spPr>
          <a:xfrm>
            <a:off x="876692" y="2620898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27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788056-E951-BA5B-70A9-CDF91E579F29}"/>
              </a:ext>
            </a:extLst>
          </p:cNvPr>
          <p:cNvSpPr txBox="1"/>
          <p:nvPr/>
        </p:nvSpPr>
        <p:spPr>
          <a:xfrm>
            <a:off x="753811" y="2281372"/>
            <a:ext cx="11023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Comparativa de Eficiencia: </a:t>
            </a:r>
            <a:r>
              <a:rPr lang="es-CL" dirty="0"/>
              <a:t>La tabla desglosa como cada tipo de ejercicio impacta de forma distinta en el cuerpo del socio del gimnasio.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Intensidad vs Duración: </a:t>
            </a:r>
            <a:r>
              <a:rPr lang="es-CL" dirty="0"/>
              <a:t>Observamos que disciplinas como </a:t>
            </a:r>
            <a:r>
              <a:rPr lang="es-CL" b="1" dirty="0"/>
              <a:t>HIIT</a:t>
            </a:r>
            <a:r>
              <a:rPr lang="es-CL" dirty="0"/>
              <a:t> registran los </a:t>
            </a:r>
            <a:r>
              <a:rPr lang="es-CL" b="1" dirty="0"/>
              <a:t>BPM</a:t>
            </a:r>
            <a:r>
              <a:rPr lang="es-CL" dirty="0"/>
              <a:t> mas altos, mientras que el </a:t>
            </a:r>
            <a:r>
              <a:rPr lang="es-CL" b="1" dirty="0"/>
              <a:t>Cardio</a:t>
            </a:r>
            <a:r>
              <a:rPr lang="es-CL" dirty="0"/>
              <a:t> destaca por sesiones mas prolongadas.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0F98105-C7CB-9398-3EDE-FE02A5A07CE1}"/>
              </a:ext>
            </a:extLst>
          </p:cNvPr>
          <p:cNvCxnSpPr>
            <a:cxnSpLocks/>
          </p:cNvCxnSpPr>
          <p:nvPr/>
        </p:nvCxnSpPr>
        <p:spPr>
          <a:xfrm>
            <a:off x="876690" y="2101877"/>
            <a:ext cx="3164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BD78011A-AB8A-DEED-11AF-FD64B5D09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02" y="4162234"/>
            <a:ext cx="9405995" cy="19504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435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DBBE-944D-ACAF-8A70-03530CBE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C4E2EFF-D662-1529-4B58-A390D42009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4744252" y="612023"/>
            <a:ext cx="7071187" cy="56339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27D561C-4CDD-DB01-B7A4-417D13A2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540223"/>
            <a:ext cx="3455821" cy="1616203"/>
          </a:xfrm>
        </p:spPr>
        <p:txBody>
          <a:bodyPr anchor="b">
            <a:normAutofit/>
          </a:bodyPr>
          <a:lstStyle/>
          <a:p>
            <a:r>
              <a:rPr lang="es-CL" sz="2700" dirty="0"/>
              <a:t>Predicción de Porcentaje de grasa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6823303-84A5-0559-3BBD-34E7067544F8}"/>
              </a:ext>
            </a:extLst>
          </p:cNvPr>
          <p:cNvSpPr txBox="1">
            <a:spLocks/>
          </p:cNvSpPr>
          <p:nvPr/>
        </p:nvSpPr>
        <p:spPr>
          <a:xfrm>
            <a:off x="876692" y="2620898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27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F9CCC0-5EE6-8671-1931-5E6E10F310B1}"/>
              </a:ext>
            </a:extLst>
          </p:cNvPr>
          <p:cNvSpPr txBox="1"/>
          <p:nvPr/>
        </p:nvSpPr>
        <p:spPr>
          <a:xfrm>
            <a:off x="753813" y="2667440"/>
            <a:ext cx="37015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Variables Dominantes: </a:t>
            </a:r>
            <a:r>
              <a:rPr lang="es-CL" dirty="0"/>
              <a:t>La </a:t>
            </a:r>
            <a:r>
              <a:rPr lang="es-CL" i="1" dirty="0"/>
              <a:t>Duración de la Sesión y la Frecuencia Cardiaca (BPM) </a:t>
            </a:r>
            <a:r>
              <a:rPr lang="es-CL" dirty="0"/>
              <a:t>concentran el mayor poder predictivo del algoritmo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b="1" dirty="0"/>
              <a:t>Métricas Biológicas: </a:t>
            </a:r>
            <a:r>
              <a:rPr lang="es-CL" dirty="0"/>
              <a:t>Factores como la Edad o el IMC aportan al contexto fisiológico, pero son secundarios frente al esfuerzo en tiempo real</a:t>
            </a:r>
            <a:endParaRPr lang="es-U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F81EC87-5871-B2DF-2783-795B93B521C1}"/>
              </a:ext>
            </a:extLst>
          </p:cNvPr>
          <p:cNvCxnSpPr>
            <a:cxnSpLocks/>
          </p:cNvCxnSpPr>
          <p:nvPr/>
        </p:nvCxnSpPr>
        <p:spPr>
          <a:xfrm>
            <a:off x="876692" y="2357594"/>
            <a:ext cx="31649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32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0BABC-8977-4223-4823-8F83CB91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CL" sz="3700" dirty="0"/>
              <a:t>Optimización de Hiperparámetros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BC17E50-1775-3FD8-3903-658E1F503C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30157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A3565C4-248A-5681-4B4F-726ABA2D2617}"/>
              </a:ext>
            </a:extLst>
          </p:cNvPr>
          <p:cNvCxnSpPr>
            <a:cxnSpLocks/>
          </p:cNvCxnSpPr>
          <p:nvPr/>
        </p:nvCxnSpPr>
        <p:spPr>
          <a:xfrm>
            <a:off x="544749" y="4022386"/>
            <a:ext cx="36089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66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0BD3B-96DF-0D29-9B66-FAF5A57F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Lecciones Aprendidas y Recomendaciones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75E26414-9501-BD46-2113-5D4BEC4598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745788"/>
              </p:ext>
            </p:extLst>
          </p:nvPr>
        </p:nvGraphicFramePr>
        <p:xfrm>
          <a:off x="501445" y="1445342"/>
          <a:ext cx="11139949" cy="515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BA5D7FD-1671-C79E-5D7C-08DE8DFB1E23}"/>
              </a:ext>
            </a:extLst>
          </p:cNvPr>
          <p:cNvCxnSpPr>
            <a:cxnSpLocks/>
          </p:cNvCxnSpPr>
          <p:nvPr/>
        </p:nvCxnSpPr>
        <p:spPr>
          <a:xfrm>
            <a:off x="838200" y="1445342"/>
            <a:ext cx="99205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127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648</Words>
  <Application>Microsoft Office PowerPoint</Application>
  <PresentationFormat>Panorámica</PresentationFormat>
  <Paragraphs>51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Optimización del Rendimiento Físico: Análisis Predictivo de Socios de Gimnasio</vt:lpstr>
      <vt:lpstr>Contexto y Objetivos</vt:lpstr>
      <vt:lpstr>Distribución de la Población y Entrenamiento</vt:lpstr>
      <vt:lpstr>Análisis Exploratorio: Los Motores del Gasto Calórico</vt:lpstr>
      <vt:lpstr>Justificación del Enfoque: PCA y Segmentación</vt:lpstr>
      <vt:lpstr>Aprendizaje No Supervisado: Método del Codo</vt:lpstr>
      <vt:lpstr>Aprendizaje No Supervisado: K-Means Clustering</vt:lpstr>
      <vt:lpstr>Aprendizaje Supervisado: Estrategia de Modelado</vt:lpstr>
      <vt:lpstr>Comportamiento según Nivel de Experiencia</vt:lpstr>
      <vt:lpstr>Desempeño Promedio por Tipo de Entrenamiento</vt:lpstr>
      <vt:lpstr>Predicción de Porcentaje de grasa</vt:lpstr>
      <vt:lpstr>Optimización de Hiperparámetros</vt:lpstr>
      <vt:lpstr>Lecciones Aprendidas y 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Rojas</dc:creator>
  <cp:lastModifiedBy>Samuel Arriagada</cp:lastModifiedBy>
  <cp:revision>8</cp:revision>
  <dcterms:created xsi:type="dcterms:W3CDTF">2026-05-09T21:49:56Z</dcterms:created>
  <dcterms:modified xsi:type="dcterms:W3CDTF">2026-05-11T04:05:51Z</dcterms:modified>
</cp:coreProperties>
</file>